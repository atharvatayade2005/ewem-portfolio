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g"/>
  <Default Extension="m4v" ContentType="video/mp4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vml" ContentType="application/vnd.openxmlformats-officedocument.vmlDrawing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charts/chart1.xml" ContentType="application/vnd.openxmlformats-officedocument.drawingml.chart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1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openxmlformats.org/officeDocument/2006/relationships/customXml" Target="../customXml/item2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customXml" Target="../customXml/item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Relationship Id="rId14" Type="http://schemas.openxmlformats.org/officeDocument/2006/relationships/customXml" Target="../customXml/item3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Annual Revenue (USD)</c:v>
                </c:pt>
              </c:strCache>
            </c:strRef>
          </c:tx>
          <c:spPr>
            <a:solidFill>
              <a:srgbClr val="C9752F"/>
            </a:solidFill>
            <a:effectLst/>
          </c:spPr>
          <c:invertIfNegative val="0"/>
          <c:dLbls>
            <c:numFmt formatCode="$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B3D3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Refined Metals</c:v>
                  </c:pt>
                  <c:pt idx="1">
                    <c:v>Component Resale</c:v>
                  </c:pt>
                  <c:pt idx="2">
                    <c:v>EPR Compliance</c:v>
                  </c:pt>
                  <c:pt idx="3">
                    <c:v>Polymer Pellets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185000</c:v>
                </c:pt>
                <c:pt idx="1">
                  <c:v>140000</c:v>
                </c:pt>
                <c:pt idx="2">
                  <c:v>65000</c:v>
                </c:pt>
                <c:pt idx="3">
                  <c:v>30000</c:v>
                </c:pt>
              </c:numCache>
            </c:numRef>
          </c:val>
        </c:ser>
        <c:dLbls>
          <c:numFmt formatCode="$#,##0" sourceLinked="0"/>
          <c:txPr>
            <a:bodyPr/>
            <a:lstStyle/>
            <a:p>
              <a:pPr>
                <a:defRPr b="0" i="0" strike="noStrike" sz="1100" u="none">
                  <a:solidFill>
                    <a:srgbClr val="0B3D3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D8E3DF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6241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754880" cy="4754880"/>
          </a:xfrm>
          <a:prstGeom prst="ellipse">
            <a:avLst/>
          </a:prstGeom>
          <a:solidFill>
            <a:srgbClr val="10534C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06240"/>
            <a:ext cx="3108960" cy="3108960"/>
          </a:xfrm>
          <a:prstGeom prst="ellipse">
            <a:avLst/>
          </a:prstGeom>
          <a:solidFill>
            <a:srgbClr val="134A43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96596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spc="2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CIRCULAB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640080" y="2880360"/>
            <a:ext cx="8778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FEA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Decentralized AI-Robotic Demanufacturing &amp; Bio-Extraction Micro-Hubs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370332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FD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Recovering the metals and microchips regional recycling leaves behind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5074920"/>
            <a:ext cx="3840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97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60%+</a:t>
            </a:r>
            <a:endParaRPr lang="en-US" sz="4000" dirty="0"/>
          </a:p>
          <a:p>
            <a:pPr indent="0" marL="0">
              <a:buNone/>
            </a:pPr>
            <a:r>
              <a:rPr lang="en-US" sz="1300" dirty="0">
                <a:solidFill>
                  <a:srgbClr val="CFEA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regional e-waste bypasses formal recycling today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4663440" y="5074920"/>
            <a:ext cx="3840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97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$420K</a:t>
            </a:r>
            <a:endParaRPr lang="en-US" sz="4000" dirty="0"/>
          </a:p>
          <a:p>
            <a:pPr indent="0" marL="0">
              <a:buNone/>
            </a:pPr>
            <a:r>
              <a:rPr lang="en-US" sz="1300" dirty="0">
                <a:solidFill>
                  <a:srgbClr val="CFEA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annual revenue per micro-hub unit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8595360" y="507492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97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14–16 mo</a:t>
            </a:r>
            <a:endParaRPr lang="en-US" sz="4000" dirty="0"/>
          </a:p>
          <a:p>
            <a:pPr indent="0" marL="0">
              <a:buNone/>
            </a:pPr>
            <a:r>
              <a:rPr lang="en-US" sz="1300" dirty="0">
                <a:solidFill>
                  <a:srgbClr val="CFEA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payback period per hub</a:t>
            </a:r>
            <a:endParaRPr lang="en-US" sz="4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Problem: Value Lost, Toxins Released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smelting and informal scrapyards both fail regional e-waste streams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657600" cy="4434840"/>
          </a:xfrm>
          <a:prstGeom prst="roundRect">
            <a:avLst>
              <a:gd name="adj" fmla="val 3000"/>
            </a:avLst>
          </a:prstGeom>
          <a:solidFill>
            <a:srgbClr val="0B3D3A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92024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C97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60%</a:t>
            </a:r>
            <a:endParaRPr lang="en-US" sz="5800" dirty="0"/>
          </a:p>
        </p:txBody>
      </p:sp>
      <p:sp>
        <p:nvSpPr>
          <p:cNvPr id="6" name="Text 4"/>
          <p:cNvSpPr/>
          <p:nvPr/>
        </p:nvSpPr>
        <p:spPr>
          <a:xfrm>
            <a:off x="822960" y="288036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regional e-waste bypasses formal recycling channels entirely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22960" y="3886200"/>
            <a:ext cx="3108960" cy="0"/>
          </a:xfrm>
          <a:prstGeom prst="line">
            <a:avLst/>
          </a:prstGeom>
          <a:noFill/>
          <a:ln w="12700">
            <a:solidFill>
              <a:srgbClr val="2C69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4069080"/>
            <a:ext cx="3108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9FD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goes:
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FEA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Hazardous acid-leaching scrapyards and open-air burning that poison soil, water, and air.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480560" y="1600200"/>
            <a:ext cx="7178040" cy="1371600"/>
          </a:xfrm>
          <a:prstGeom prst="roundRect">
            <a:avLst>
              <a:gd name="adj" fmla="val 6667"/>
            </a:avLst>
          </a:prstGeom>
          <a:solidFill>
            <a:srgbClr val="F0F4F2"/>
          </a:solidFill>
          <a:ln/>
        </p:spPr>
      </p:sp>
      <p:sp>
        <p:nvSpPr>
          <p:cNvPr id="10" name="Shape 8"/>
          <p:cNvSpPr/>
          <p:nvPr/>
        </p:nvSpPr>
        <p:spPr>
          <a:xfrm>
            <a:off x="4709160" y="1920240"/>
            <a:ext cx="731520" cy="7315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8E3DF"/>
            </a:solidFill>
            <a:prstDash val="solid"/>
          </a:ln>
        </p:spPr>
      </p:sp>
      <p:pic>
        <p:nvPicPr>
          <p:cNvPr id="11" name="Image 0" descr="icon_recyc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73752" y="2084832"/>
            <a:ext cx="402336" cy="402336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669280" y="1764792"/>
            <a:ext cx="5806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Reverse-Logistics Cost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5669280" y="2130552"/>
            <a:ext cx="5806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mega-smelters can't economically collect dispersed, low-density e-waste from urban SMEs and consumers.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4480560" y="3136392"/>
            <a:ext cx="7178040" cy="1371600"/>
          </a:xfrm>
          <a:prstGeom prst="roundRect">
            <a:avLst>
              <a:gd name="adj" fmla="val 6667"/>
            </a:avLst>
          </a:prstGeom>
          <a:solidFill>
            <a:srgbClr val="F0F4F2"/>
          </a:solidFill>
          <a:ln/>
        </p:spPr>
      </p:sp>
      <p:sp>
        <p:nvSpPr>
          <p:cNvPr id="15" name="Shape 12"/>
          <p:cNvSpPr/>
          <p:nvPr/>
        </p:nvSpPr>
        <p:spPr>
          <a:xfrm>
            <a:off x="4709160" y="3456432"/>
            <a:ext cx="731520" cy="7315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8E3DF"/>
            </a:solidFill>
            <a:prstDash val="solid"/>
          </a:ln>
        </p:spPr>
      </p:sp>
      <p:pic>
        <p:nvPicPr>
          <p:cNvPr id="16" name="Image 1" descr="icon_coin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3752" y="3621024"/>
            <a:ext cx="402336" cy="402336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669280" y="3300984"/>
            <a:ext cx="5806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Cash Incentive to Recycle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5669280" y="3666744"/>
            <a:ext cx="5806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SMEs and individuals lack immediate rebates or convenient drop-off options, so devices default to landfill or informal scrap.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4480560" y="4672584"/>
            <a:ext cx="7178040" cy="1371600"/>
          </a:xfrm>
          <a:prstGeom prst="roundRect">
            <a:avLst>
              <a:gd name="adj" fmla="val 6667"/>
            </a:avLst>
          </a:prstGeom>
          <a:solidFill>
            <a:srgbClr val="F0F4F2"/>
          </a:solidFill>
          <a:ln/>
        </p:spPr>
      </p:sp>
      <p:sp>
        <p:nvSpPr>
          <p:cNvPr id="20" name="Shape 16"/>
          <p:cNvSpPr/>
          <p:nvPr/>
        </p:nvSpPr>
        <p:spPr>
          <a:xfrm>
            <a:off x="4709160" y="4992624"/>
            <a:ext cx="731520" cy="7315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8E3DF"/>
            </a:solidFill>
            <a:prstDash val="solid"/>
          </a:ln>
        </p:spPr>
      </p:sp>
      <p:pic>
        <p:nvPicPr>
          <p:cNvPr id="21" name="Image 2" descr="icon_microchi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3752" y="5157216"/>
            <a:ext cx="402336" cy="402336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5669280" y="4837176"/>
            <a:ext cx="5806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Destroyed by Blunt Shredding</a:t>
            </a:r>
            <a:endParaRPr lang="en-US" sz="1500" dirty="0"/>
          </a:p>
        </p:txBody>
      </p:sp>
      <p:sp>
        <p:nvSpPr>
          <p:cNvPr id="23" name="Text 18"/>
          <p:cNvSpPr/>
          <p:nvPr/>
        </p:nvSpPr>
        <p:spPr>
          <a:xfrm>
            <a:off x="5669280" y="5202936"/>
            <a:ext cx="5806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Intact microcontrollers, copper, gold, silver, and palladium are degraded or lost before they can ever be recovered.</a:t>
            </a:r>
            <a:endParaRPr lang="en-US" sz="1150" dirty="0"/>
          </a:p>
        </p:txBody>
      </p:sp>
      <p:sp>
        <p:nvSpPr>
          <p:cNvPr id="24" name="Text 19"/>
          <p:cNvSpPr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CircuLab  |  Decentralized Demanufacturing &amp; Bio-Extraction Micro-Hubs</a:t>
            </a:r>
            <a:endParaRPr lang="en-US" sz="900" dirty="0"/>
          </a:p>
        </p:txBody>
      </p:sp>
      <p:sp>
        <p:nvSpPr>
          <p:cNvPr id="25" name="Text 2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Solution: Modular Micro-Refineries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Shipping-container-sized hubs stationed at urban industrial parks, IT clusters, and educational campuses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20440" cy="434340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E29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011680"/>
            <a:ext cx="822960" cy="822960"/>
          </a:xfrm>
          <a:prstGeom prst="ellipse">
            <a:avLst/>
          </a:prstGeom>
          <a:solidFill>
            <a:srgbClr val="0B3D3A"/>
          </a:solidFill>
          <a:ln/>
        </p:spPr>
      </p:sp>
      <p:pic>
        <p:nvPicPr>
          <p:cNvPr id="6" name="Image 0" descr="icon_microchi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992" y="2221992"/>
            <a:ext cx="402336" cy="4023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063240" y="196596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D8E3D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868680" y="3063240"/>
            <a:ext cx="2880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50" b="1" dirty="0">
                <a:solidFill>
                  <a:srgbClr val="0B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Desoldering &amp; Component Salvage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868680" y="4023360"/>
            <a:ext cx="2880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Infrared-guided robotic pick-and-place arms identify, desolder, and test intact ICs — microcontrollers, power-management chips, memory modules — before crushing.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389120" y="1691640"/>
            <a:ext cx="3520440" cy="434340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E29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09160" y="2011680"/>
            <a:ext cx="822960" cy="822960"/>
          </a:xfrm>
          <a:prstGeom prst="ellipse">
            <a:avLst/>
          </a:prstGeom>
          <a:solidFill>
            <a:srgbClr val="1B9C85"/>
          </a:solidFill>
          <a:ln/>
        </p:spPr>
      </p:sp>
      <p:pic>
        <p:nvPicPr>
          <p:cNvPr id="12" name="Image 1" descr="icon_flas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9472" y="2221992"/>
            <a:ext cx="402336" cy="40233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03720" y="196596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D8E3D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14" name="Text 10"/>
          <p:cNvSpPr/>
          <p:nvPr/>
        </p:nvSpPr>
        <p:spPr>
          <a:xfrm>
            <a:off x="4709160" y="3063240"/>
            <a:ext cx="2880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50" b="1" dirty="0">
                <a:solidFill>
                  <a:srgbClr val="0B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Closed-Loop Enzymatic Bio-Leaching</a:t>
            </a:r>
            <a:endParaRPr lang="en-US" sz="1650" dirty="0"/>
          </a:p>
        </p:txBody>
      </p:sp>
      <p:sp>
        <p:nvSpPr>
          <p:cNvPr id="15" name="Text 11"/>
          <p:cNvSpPr/>
          <p:nvPr/>
        </p:nvSpPr>
        <p:spPr>
          <a:xfrm>
            <a:off x="4709160" y="4023360"/>
            <a:ext cx="2880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Ambient-temperature biometallurgical cartridges use Acidithiobacillus ferrooxidans to selectively extract copper, gold, and rare earths with zero toxic emissions.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8229600" y="1691640"/>
            <a:ext cx="3520440" cy="434340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E29">
                <a:alpha val="1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549640" y="2011680"/>
            <a:ext cx="822960" cy="822960"/>
          </a:xfrm>
          <a:prstGeom prst="ellipse">
            <a:avLst/>
          </a:prstGeom>
          <a:solidFill>
            <a:srgbClr val="0B3D3A"/>
          </a:solidFill>
          <a:ln/>
        </p:spPr>
      </p:sp>
      <p:pic>
        <p:nvPicPr>
          <p:cNvPr id="18" name="Image 2" descr="icon_cer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59952" y="2221992"/>
            <a:ext cx="402336" cy="40233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0744200" y="196596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D8E3D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20" name="Text 15"/>
          <p:cNvSpPr/>
          <p:nvPr/>
        </p:nvSpPr>
        <p:spPr>
          <a:xfrm>
            <a:off x="8549640" y="3063240"/>
            <a:ext cx="2880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50" b="1" dirty="0">
                <a:solidFill>
                  <a:srgbClr val="0B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Reverse-Vending &amp; EPR Tracking</a:t>
            </a:r>
            <a:endParaRPr lang="en-US" sz="1650" dirty="0"/>
          </a:p>
        </p:txBody>
      </p:sp>
      <p:sp>
        <p:nvSpPr>
          <p:cNvPr id="21" name="Text 16"/>
          <p:cNvSpPr/>
          <p:nvPr/>
        </p:nvSpPr>
        <p:spPr>
          <a:xfrm>
            <a:off x="8549640" y="4023360"/>
            <a:ext cx="2880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Depositors receive instant tokenized credit or cash rebates; manufacturers get verified, auditable EPR compliance tokens for every unit processed.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CircuLab  |  Decentralized Demanufacturing &amp; Bio-Extraction Micro-Hubs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Model — Per Micro-Hub Unit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diversified streams turn a single container into $420,000 in annual revenue at ~42% operating margin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00200"/>
          <a:ext cx="603504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858000" y="1600200"/>
            <a:ext cx="4800600" cy="932688"/>
          </a:xfrm>
          <a:prstGeom prst="roundRect">
            <a:avLst>
              <a:gd name="adj" fmla="val 7843"/>
            </a:avLst>
          </a:prstGeom>
          <a:solidFill>
            <a:srgbClr val="F0F4F2"/>
          </a:solidFill>
          <a:ln/>
        </p:spPr>
      </p:sp>
      <p:sp>
        <p:nvSpPr>
          <p:cNvPr id="6" name="Text 3"/>
          <p:cNvSpPr/>
          <p:nvPr/>
        </p:nvSpPr>
        <p:spPr>
          <a:xfrm>
            <a:off x="7040880" y="1673352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Refined Precious &amp; Base Metals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7040880" y="1984248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99.5%+ pure bio-leached gold, copper cathode powder, palladium sold to industrial refiners.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10241280" y="1600200"/>
            <a:ext cx="12801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C97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$185,000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858000" y="2670048"/>
            <a:ext cx="4800600" cy="932688"/>
          </a:xfrm>
          <a:prstGeom prst="roundRect">
            <a:avLst>
              <a:gd name="adj" fmla="val 7843"/>
            </a:avLst>
          </a:prstGeom>
          <a:solidFill>
            <a:srgbClr val="F0F4F2"/>
          </a:solidFill>
          <a:ln/>
        </p:spPr>
      </p:sp>
      <p:sp>
        <p:nvSpPr>
          <p:cNvPr id="10" name="Text 7"/>
          <p:cNvSpPr/>
          <p:nvPr/>
        </p:nvSpPr>
        <p:spPr>
          <a:xfrm>
            <a:off x="7040880" y="274320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Harvested Component Resale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7040880" y="3054096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microcontrollers, RAM, and sensors packaged for makers and local manufacturers.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10241280" y="2670048"/>
            <a:ext cx="12801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C97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$140,000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6858000" y="3739896"/>
            <a:ext cx="4800600" cy="932688"/>
          </a:xfrm>
          <a:prstGeom prst="roundRect">
            <a:avLst>
              <a:gd name="adj" fmla="val 7843"/>
            </a:avLst>
          </a:prstGeom>
          <a:solidFill>
            <a:srgbClr val="F0F4F2"/>
          </a:solidFill>
          <a:ln/>
        </p:spPr>
      </p:sp>
      <p:sp>
        <p:nvSpPr>
          <p:cNvPr id="14" name="Text 11"/>
          <p:cNvSpPr/>
          <p:nvPr/>
        </p:nvSpPr>
        <p:spPr>
          <a:xfrm>
            <a:off x="7040880" y="3813048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EPR Compliance-as-a-Service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7040880" y="4123944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disposal certificates and audit logs for corporate IT fleets and electronics brands.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10241280" y="3739896"/>
            <a:ext cx="12801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C97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$65,000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6858000" y="4809744"/>
            <a:ext cx="4800600" cy="932688"/>
          </a:xfrm>
          <a:prstGeom prst="roundRect">
            <a:avLst>
              <a:gd name="adj" fmla="val 7843"/>
            </a:avLst>
          </a:prstGeom>
          <a:solidFill>
            <a:srgbClr val="F0F4F2"/>
          </a:solidFill>
          <a:ln/>
        </p:spPr>
      </p:sp>
      <p:sp>
        <p:nvSpPr>
          <p:cNvPr id="18" name="Text 15"/>
          <p:cNvSpPr/>
          <p:nvPr/>
        </p:nvSpPr>
        <p:spPr>
          <a:xfrm>
            <a:off x="7040880" y="4882896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Recycled Polymer Pellets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7040880" y="5193792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Granulated ABS/polycarbonate casings sold to domestic injection-molding businesses.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10241280" y="4809744"/>
            <a:ext cx="12801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C97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$30,000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6858000" y="5879592"/>
            <a:ext cx="4800600" cy="594360"/>
          </a:xfrm>
          <a:prstGeom prst="roundRect">
            <a:avLst>
              <a:gd name="adj" fmla="val 12308"/>
            </a:avLst>
          </a:prstGeom>
          <a:solidFill>
            <a:srgbClr val="0B3D3A"/>
          </a:solidFill>
          <a:ln/>
        </p:spPr>
      </p:sp>
      <p:sp>
        <p:nvSpPr>
          <p:cNvPr id="22" name="Text 19"/>
          <p:cNvSpPr/>
          <p:nvPr/>
        </p:nvSpPr>
        <p:spPr>
          <a:xfrm>
            <a:off x="7040880" y="5879592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FEA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ANNUAL REVENUE / UNIT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10058400" y="5879592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C97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$420,000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CircuLab  |  Decentralized Demanufacturing &amp; Bio-Extraction Micro-Hubs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3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4206240"/>
            <a:ext cx="4206240" cy="4206240"/>
          </a:xfrm>
          <a:prstGeom prst="ellipse">
            <a:avLst/>
          </a:prstGeom>
          <a:solidFill>
            <a:srgbClr val="10534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Scaling to a 5-Hub Urban Cluster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FEA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micro-hub proves the model. A cluster turns it into a metro-scale recovery network.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3429000" cy="2331720"/>
          </a:xfrm>
          <a:prstGeom prst="roundRect">
            <a:avLst>
              <a:gd name="adj" fmla="val 3922"/>
            </a:avLst>
          </a:prstGeom>
          <a:solidFill>
            <a:srgbClr val="0F4841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242316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icon_cub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" y="2551176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310896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97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$2.1M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914400" y="3721608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FEA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gross revenue across a 5-hub urban cluster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389120" y="2148840"/>
            <a:ext cx="3429000" cy="2331720"/>
          </a:xfrm>
          <a:prstGeom prst="roundRect">
            <a:avLst>
              <a:gd name="adj" fmla="val 3922"/>
            </a:avLst>
          </a:prstGeom>
          <a:solidFill>
            <a:srgbClr val="0F4841"/>
          </a:solidFill>
          <a:ln/>
        </p:spPr>
      </p:sp>
      <p:sp>
        <p:nvSpPr>
          <p:cNvPr id="11" name="Shape 8"/>
          <p:cNvSpPr/>
          <p:nvPr/>
        </p:nvSpPr>
        <p:spPr>
          <a:xfrm>
            <a:off x="4663440" y="242316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1" descr="icon_lea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1456" y="2551176"/>
            <a:ext cx="384048" cy="38404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663440" y="310896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97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42%</a:t>
            </a:r>
            <a:endParaRPr lang="en-US" sz="3000" dirty="0"/>
          </a:p>
        </p:txBody>
      </p:sp>
      <p:sp>
        <p:nvSpPr>
          <p:cNvPr id="14" name="Text 10"/>
          <p:cNvSpPr/>
          <p:nvPr/>
        </p:nvSpPr>
        <p:spPr>
          <a:xfrm>
            <a:off x="4663440" y="3721608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FEA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margin after biological buffer &amp; energy costs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8138160" y="2148840"/>
            <a:ext cx="3429000" cy="2331720"/>
          </a:xfrm>
          <a:prstGeom prst="roundRect">
            <a:avLst>
              <a:gd name="adj" fmla="val 3922"/>
            </a:avLst>
          </a:prstGeom>
          <a:solidFill>
            <a:srgbClr val="0F4841"/>
          </a:solidFill>
          <a:ln/>
        </p:spPr>
      </p:sp>
      <p:sp>
        <p:nvSpPr>
          <p:cNvPr id="16" name="Shape 12"/>
          <p:cNvSpPr/>
          <p:nvPr/>
        </p:nvSpPr>
        <p:spPr>
          <a:xfrm>
            <a:off x="8412480" y="242316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7" name="Image 2" descr="icon_coin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0496" y="2551176"/>
            <a:ext cx="384048" cy="38404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412480" y="310896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97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14–16 mo</a:t>
            </a:r>
            <a:endParaRPr lang="en-US" sz="3000" dirty="0"/>
          </a:p>
        </p:txBody>
      </p:sp>
      <p:sp>
        <p:nvSpPr>
          <p:cNvPr id="19" name="Text 14"/>
          <p:cNvSpPr/>
          <p:nvPr/>
        </p:nvSpPr>
        <p:spPr>
          <a:xfrm>
            <a:off x="8412480" y="3721608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FEA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payback period per individual hub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640080" y="4892040"/>
            <a:ext cx="10881360" cy="0"/>
          </a:xfrm>
          <a:prstGeom prst="line">
            <a:avLst/>
          </a:prstGeom>
          <a:noFill/>
          <a:ln w="12700">
            <a:solidFill>
              <a:srgbClr val="2C6960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640080" y="507492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e-waste liability to recovered-metal asset — decentralized, non-toxic, and profitable within 16 months per hub.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FD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CircuLab  |  Decentralized Demanufacturing &amp; Bio-Extraction Micro-Hubs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D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705BFBD7D7D0F459F2EB6DF2A577303" ma:contentTypeVersion="12" ma:contentTypeDescription="Create a new document." ma:contentTypeScope="" ma:versionID="8528867ffa347892931992dba061e8fc">
  <xsd:schema xmlns:xsd="http://www.w3.org/2001/XMLSchema" xmlns:xs="http://www.w3.org/2001/XMLSchema" xmlns:p="http://schemas.microsoft.com/office/2006/metadata/properties" xmlns:ns2="01a789ed-3b06-4a12-abcb-8250f314dd0b" xmlns:ns3="44678d20-5b6e-4792-b133-ca784477d689" targetNamespace="http://schemas.microsoft.com/office/2006/metadata/properties" ma:root="true" ma:fieldsID="3a6a2aa65aa1b5a2272dcd5b5e15d211" ns2:_="" ns3:_="">
    <xsd:import namespace="01a789ed-3b06-4a12-abcb-8250f314dd0b"/>
    <xsd:import namespace="44678d20-5b6e-4792-b133-ca784477d689"/>
    <xsd:element name="properties">
      <xsd:complexType>
        <xsd:sequence>
          <xsd:element name="documentManagement">
            <xsd:complexType>
              <xsd:all>
                <xsd:element ref="ns2:ReferenceId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1a789ed-3b06-4a12-abcb-8250f314dd0b" elementFormDefault="qualified">
    <xsd:import namespace="http://schemas.microsoft.com/office/2006/documentManagement/types"/>
    <xsd:import namespace="http://schemas.microsoft.com/office/infopath/2007/PartnerControls"/>
    <xsd:element name="ReferenceId" ma:index="8" nillable="true" ma:displayName="ReferenceId" ma:indexed="true" ma:internalName="ReferenceId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65c09e8c-4242-4efc-8aa0-958213fa9c5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4678d20-5b6e-4792-b133-ca784477d689" elementFormDefault="qualified">
    <xsd:import namespace="http://schemas.microsoft.com/office/2006/documentManagement/types"/>
    <xsd:import namespace="http://schemas.microsoft.com/office/infopath/2007/PartnerControls"/>
    <xsd:element name="TaxCatchAll" ma:index="15" nillable="true" ma:displayName="Taxonomy Catch All Column" ma:hidden="true" ma:list="{b9a17da5-126c-488b-b448-998f78a263bb}" ma:internalName="TaxCatchAll" ma:showField="CatchAllData" ma:web="44678d20-5b6e-4792-b133-ca784477d68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ReferenceId xmlns="01a789ed-3b06-4a12-abcb-8250f314dd0b" xsi:nil="true"/>
    <lcf76f155ced4ddcb4097134ff3c332f xmlns="01a789ed-3b06-4a12-abcb-8250f314dd0b">
      <Terms xmlns="http://schemas.microsoft.com/office/infopath/2007/PartnerControls"/>
    </lcf76f155ced4ddcb4097134ff3c332f>
    <TaxCatchAll xmlns="44678d20-5b6e-4792-b133-ca784477d689" xsi:nil="true"/>
  </documentManagement>
</p:properties>
</file>

<file path=customXml/itemProps1.xml><?xml version="1.0" encoding="utf-8"?>
<ds:datastoreItem xmlns:ds="http://schemas.openxmlformats.org/officeDocument/2006/customXml" ds:itemID="{50FC4DB7-27BB-429D-9C9E-92A6747C897B}"/>
</file>

<file path=customXml/itemProps2.xml><?xml version="1.0" encoding="utf-8"?>
<ds:datastoreItem xmlns:ds="http://schemas.openxmlformats.org/officeDocument/2006/customXml" ds:itemID="{9681AF5C-6CC0-436D-9E36-2B0D7F538A03}"/>
</file>

<file path=customXml/itemProps3.xml><?xml version="1.0" encoding="utf-8"?>
<ds:datastoreItem xmlns:ds="http://schemas.openxmlformats.org/officeDocument/2006/customXml" ds:itemID="{A2C7D70A-4069-4B1A-AA51-0837D7598015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2026-08-25T04:15:49Z</dcterms:created>
  <dcterms:modified xsi:type="dcterms:W3CDTF">2026-08-25T04:15:49Z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0x0101003705BFBD7D7D0F459F2EB6DF2A577303</vt:lpwstr>
  </property>
</Properties>
</file>